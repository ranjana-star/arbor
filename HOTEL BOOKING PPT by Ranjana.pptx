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9" r:id="rId1"/>
  </p:sldMasterIdLst>
  <p:sldIdLst>
    <p:sldId id="292" r:id="rId2"/>
    <p:sldId id="293" r:id="rId3"/>
    <p:sldId id="260" r:id="rId4"/>
    <p:sldId id="261" r:id="rId5"/>
    <p:sldId id="263" r:id="rId6"/>
    <p:sldId id="294" r:id="rId7"/>
    <p:sldId id="270" r:id="rId8"/>
    <p:sldId id="295" r:id="rId9"/>
    <p:sldId id="296" r:id="rId10"/>
    <p:sldId id="297" r:id="rId11"/>
    <p:sldId id="299" r:id="rId12"/>
    <p:sldId id="298" r:id="rId13"/>
    <p:sldId id="300" r:id="rId14"/>
    <p:sldId id="301" r:id="rId15"/>
    <p:sldId id="285" r:id="rId16"/>
    <p:sldId id="286" r:id="rId17"/>
    <p:sldId id="302" r:id="rId18"/>
    <p:sldId id="289" r:id="rId19"/>
    <p:sldId id="28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3600"/>
    <a:srgbClr val="58423A"/>
    <a:srgbClr val="C6B114"/>
    <a:srgbClr val="FFDD71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88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348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358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24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75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97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13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56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1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91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857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67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3364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55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378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03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F2A9C-1467-42FB-9CF7-62B5B7D195FE}" type="datetimeFigureOut">
              <a:rPr lang="en-IN" smtClean="0"/>
              <a:t>19-02-2026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1C6809-BB21-4BBD-B550-A6FC07B4F8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05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4F24-4DDE-4F99-97CF-576675812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2093976"/>
            <a:ext cx="8002693" cy="731520"/>
          </a:xfrm>
        </p:spPr>
        <p:txBody>
          <a:bodyPr/>
          <a:lstStyle/>
          <a:p>
            <a:pPr algn="ctr"/>
            <a:r>
              <a:rPr lang="en-IN" sz="6900" dirty="0">
                <a:ln w="6600">
                  <a:noFill/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glow rad="127000">
                    <a:srgbClr val="A23600"/>
                  </a:glow>
                  <a:outerShdw dist="38100" dir="2700000" algn="tl" rotWithShape="0">
                    <a:schemeClr val="accent2"/>
                  </a:outerShdw>
                </a:effectLst>
              </a:rPr>
              <a:t>HOTEL BOOKING </a:t>
            </a:r>
            <a:r>
              <a:rPr lang="en-IN" sz="4800" dirty="0">
                <a:ln w="6600">
                  <a:noFill/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glow rad="127000">
                    <a:srgbClr val="A23600"/>
                  </a:glow>
                  <a:outerShdw dist="38100" dir="2700000" algn="tl" rotWithShape="0">
                    <a:schemeClr val="accent2"/>
                  </a:outerShdw>
                </a:effectLst>
              </a:rPr>
              <a:t>Data Analysis</a:t>
            </a:r>
            <a:br>
              <a:rPr lang="en-IN" sz="5400" b="1" dirty="0">
                <a:ln w="6600">
                  <a:noFill/>
                  <a:prstDash val="solid"/>
                </a:ln>
                <a:solidFill>
                  <a:srgbClr val="FFDD71"/>
                </a:solidFill>
                <a:effectLst>
                  <a:glow rad="127000">
                    <a:srgbClr val="A23600"/>
                  </a:glow>
                  <a:outerShdw dist="38100" dir="2700000" algn="tl" rotWithShape="0">
                    <a:schemeClr val="accent2"/>
                  </a:outerShdw>
                </a:effectLst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59543-7DE3-419B-83A0-1EA3FC016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764024"/>
            <a:ext cx="8725069" cy="1107388"/>
          </a:xfrm>
          <a:noFill/>
        </p:spPr>
        <p:txBody>
          <a:bodyPr>
            <a:normAutofit fontScale="32500" lnSpcReduction="20000"/>
          </a:bodyPr>
          <a:lstStyle/>
          <a:p>
            <a:r>
              <a:rPr lang="en-IN" sz="5600" b="1" i="0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Type - EDA</a:t>
            </a:r>
          </a:p>
          <a:p>
            <a:r>
              <a:rPr lang="en-IN" sz="5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-</a:t>
            </a:r>
          </a:p>
          <a:p>
            <a:r>
              <a:rPr lang="en-IN" sz="5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Ranjana </a:t>
            </a:r>
            <a:r>
              <a:rPr lang="en-IN" sz="56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Pise</a:t>
            </a:r>
            <a:endParaRPr lang="en-IN" sz="5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C3455-40A8-4EB3-8273-0605DFF97192}"/>
              </a:ext>
            </a:extLst>
          </p:cNvPr>
          <p:cNvSpPr txBox="1"/>
          <p:nvPr/>
        </p:nvSpPr>
        <p:spPr>
          <a:xfrm>
            <a:off x="2129704" y="2240280"/>
            <a:ext cx="6757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 Evaluation of City &amp; Resort Hotels (2015–2017)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Used: Power BI | Power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Query | DAX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88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46D2-1792-46CD-A0EB-8940F68B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Summary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37685-05D6-4B23-A8D0-47896D52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1368"/>
            <a:ext cx="8596668" cy="423999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evaluates the business performance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City Hotel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Resort Hotel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contains information about bookings, revenue, stay duration, cancellations, number of guests (including children), waiting period, repeated guests, food preferences, booking countries, and booking channels like agents.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factors affecting revenue and cancellations.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Evaluated operational efficiency, customer satisfaction, and market positioning.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 City Hotel vs Resort Hotel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interactive Power BI dashboards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yearly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weekly analysis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Generated insights to improve profitability, reduce cancellations, and support sustainable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9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30C3-3B09-1DBE-D70B-474872C1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First View :</a:t>
            </a:r>
            <a:b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9B6B39-87BF-F68D-1E33-7D7C283B0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73" y="1853753"/>
            <a:ext cx="11770503" cy="4105125"/>
          </a:xfrm>
        </p:spPr>
      </p:pic>
    </p:spTree>
    <p:extLst>
      <p:ext uri="{BB962C8B-B14F-4D97-AF65-F5344CB8AC3E}">
        <p14:creationId xmlns:p14="http://schemas.microsoft.com/office/powerpoint/2010/main" val="88442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3711-9E07-0353-8BD3-355345E8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113762"/>
          </a:xfrm>
        </p:spPr>
        <p:txBody>
          <a:bodyPr>
            <a:normAutofit fontScale="90000"/>
          </a:bodyPr>
          <a:lstStyle/>
          <a:p>
            <a:r>
              <a:rPr lang="en-IN" sz="4000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Columns names :</a:t>
            </a:r>
            <a:br>
              <a:rPr lang="en-IN" b="0" i="0" dirty="0">
                <a:solidFill>
                  <a:schemeClr val="accent2">
                    <a:lumMod val="75000"/>
                  </a:schemeClr>
                </a:solidFill>
                <a:effectLst/>
              </a:rPr>
            </a:b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59D8-153D-4ECB-4F6D-B504CF53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Hotel,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is_canceled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lead_time,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arrival_date_year,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arrival_date_month,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arrival_date_week_number,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arrival_date_day_of_month,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stays_in_weekend_nights,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stays_in_week_nights,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adults,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children,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babies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meal,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country,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market_segment,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distribution_channel,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is_repeated_guest,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previous_cancellations,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previous_bookings_not_canceled,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reserved_room_type,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assigned_room_type,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booking_changes,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deposit_type,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company,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days_in_waiting_list,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customer_type,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adr,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required_car_parking_spaces,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total_of_special_requests,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reservation_status,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reservation_status_date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069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EFE3-52FF-D487-F5EF-1030CC91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00514"/>
            <a:ext cx="8596668" cy="798897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Overview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4424C-D316-7DBC-F05D-C766991A7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1166"/>
            <a:ext cx="7966152" cy="4530197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given dataset is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Hotel Booking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we have to analyze and explore this dataset to discover important factors which affects the Hotel Booking.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Records: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119,390 rows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Columns: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32 columns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&amp; ADR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Cancellation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Guest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channels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29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5F95-200F-43A0-AF98-89337439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4530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&amp; Preparation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16457-776A-4BA5-BB11-5518A05D0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433"/>
            <a:ext cx="8596668" cy="4201929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Removed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31,994 duplicate records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Identified missing values in are 4 columns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Company – 82133 (93%)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Agent - 12191 (13%)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Country – 452 (&lt; 1%)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Children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Handled null values using appropriate methods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Converted date columns into proper format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Removed inconsistencies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80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C0F2-3492-8DDF-6AE1-AF5D14416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396" y="494524"/>
            <a:ext cx="10294458" cy="930239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: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84505-4475-3A59-F085-260E47BE0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7" y="1424763"/>
            <a:ext cx="9603275" cy="4938714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New Columns Created 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Stay = Week Nights + Weekend Nights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Revenue = ADR × Total Stay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Guest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= Adults + Children + Babies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Satisfaction Level -&gt;  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Reserved_room_type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 = 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Assigned_room_type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Agent Column = Null value replace with the Zero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 Primary Key = Booking ID</a:t>
            </a:r>
          </a:p>
          <a:p>
            <a:pPr marL="0" indent="0" algn="l">
              <a:buNone/>
            </a:pP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Deleted Columns :</a:t>
            </a:r>
          </a:p>
          <a:p>
            <a:pPr marL="0" indent="0" algn="l">
              <a:buNone/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Comapany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 Column (93 % records are null values) ,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Repeated_Guest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Column (96 % records zero values),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Previous_Cancellations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Column(98% records zero values ) ,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Previous_booking_not_Cancelled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Column(95% records zero values ) ,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day_in_waiting_list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(95% records zero values).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transformations improved analysis accuracy.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99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92A5E-7110-4CBC-850D-1DF5A3CA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263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KPIs Created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E5A63-0939-489A-8513-776693EE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965125" cy="3880773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Revenue 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₹3,44,60,331.81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Bookings 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87392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Average ADR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- 106.34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Average Total Stay 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3.63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nights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Count of Country –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178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KPIs give a quick overview of overall hotel performance.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85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EE0D-8ECF-400F-86C8-586D1228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073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by Month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BF83-88A9-470C-B757-3B4E5E11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2271"/>
            <a:ext cx="6175853" cy="427909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shows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gradual increase from January to June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July and August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record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highest 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indicating peak season.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Revenue declines after August, showing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seasonal pattern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Peak months are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July–August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ideal for dynamic pricing and capacity planning.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46C16-0F8B-42AA-8B07-B5E9AE86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177" y="1762271"/>
            <a:ext cx="2216264" cy="427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56BD-F361-46EF-B9B6-2CB62118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by Customer Type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38FB0-8CB1-43E4-8F2A-CEAB1E6E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61423"/>
            <a:ext cx="5694590" cy="4279939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 Contribution to Revenue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Transient customers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highest total revenue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Transient-Party and Contract customers contribute moderately.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customers contribute the least.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Business should focus more 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Transient customers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revenue growth.</a:t>
            </a:r>
          </a:p>
          <a:p>
            <a:pPr marL="0" indent="0"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D167D-76D7-4A47-BD62-458EC9901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805" y="1824836"/>
            <a:ext cx="3128210" cy="310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85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2214-9503-47BB-9611-FD23DFF1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Stay by Customer Type :</a:t>
            </a:r>
            <a:endParaRPr lang="en-IN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5650-FA7C-4A2E-ACE2-99B06098C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5171"/>
            <a:ext cx="5418666" cy="43761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 contains four different customer types: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Transient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Transient-Party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Stay Duration Analysis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Contract customers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the longest average stay.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Transient customers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 moderate stay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bookings have shorter stays.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Long-stay customers help maintain stable occupancy.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4C942-E2C5-44E5-B98E-875A901A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259" y="1930400"/>
            <a:ext cx="3043001" cy="340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6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E2EA-6A78-47D2-990B-F7EB689A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Week-Night Stay Pattern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CA76F-7171-4277-B65B-4F468B8FE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914944" cy="388077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Stays in Week Nights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number of bookings include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week-night stays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Gradual decline shows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shorter stays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later bookings.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Hotels are more occupied during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weekdays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useful for pricing strategy.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E01A2-89D5-42AC-82D9-24972DA7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278" y="2305785"/>
            <a:ext cx="4562375" cy="299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3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3311-6ACE-4DCE-88FA-DF6244BF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 Meal Preference Analysis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A23A-E9F5-418D-8B8E-A8F18274A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32547"/>
            <a:ext cx="5569462" cy="4308815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🍴 Meal Type Preference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BB (Bed &amp; Breakfast)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most preferred meal plan.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HB and SC have lower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FB has very limited preference.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BB meal plans should be prioritized to match customer demand.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284CB-FEFF-4A32-BD01-CC03438D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048" y="1930400"/>
            <a:ext cx="3308261" cy="299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65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876F-1955-43A9-8E26-A8C82DA5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3440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Hotel-Wise Performance Analysis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1CF0F-FC24-4D89-9B89-F035A1489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6669"/>
            <a:ext cx="6608990" cy="4870384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🏢 City Hotel vs Resort Hotel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Hotel shows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higher booking volume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Resort Hotel benefits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premium stays and amenities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Filters allow comparison for better business decisions.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📅 Seasonal Booking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Peak bookings during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summer vacation months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Lower demand during end-of-year months.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💡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City Hotel drives volume, Resort Hotel supports premium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Seasonal staffing and promotional strategies are required.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E09C3-3E98-400D-916D-590CA213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324" y="1886553"/>
            <a:ext cx="2637322" cy="249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9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742A-556A-272E-4B25-D964560FC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3386"/>
          </a:xfrm>
        </p:spPr>
        <p:txBody>
          <a:bodyPr>
            <a:noAutofit/>
          </a:bodyPr>
          <a:lstStyle/>
          <a:p>
            <a: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Suggestion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Solutions :</a:t>
            </a:r>
            <a:b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0E69-04C6-5A12-7C94-21339A633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9" y="1562986"/>
            <a:ext cx="8980369" cy="50504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 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Hotel bookings increase significantly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April to August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This period represents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peak travel season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guest volume directly impacts service quality and operations.</a:t>
            </a: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Increase staff strength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during April–August to manage high demand and maintain service quality.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Plan inventory and resources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(food supplies, housekeeping, amenities) in advance to avoid shortages.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Optimize operations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during peak months to improve guest satisfaction and maximize revenue.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Resort Hotels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focus on enhancing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amenities and facilities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attract premium customers and increase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Average Daily Rate (ADR)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Providing a complete and enjoyable guest experience helps improve repeat bookings and brand value.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24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2AB2-E00C-790D-F4BD-97493461F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3898"/>
          </a:xfrm>
        </p:spPr>
        <p:txBody>
          <a:bodyPr>
            <a:noAutofit/>
          </a:bodyPr>
          <a:lstStyle/>
          <a:p>
            <a: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 / Conclusion :</a:t>
            </a:r>
            <a:br>
              <a:rPr lang="en-IN" b="1" i="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71B3-D169-B906-AF7F-6F8E2B59C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026" y="1594884"/>
            <a:ext cx="9018872" cy="4386038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City Hotels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recorded higher bookings and revenue, with peak performance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July and August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consistently show the highest booking volume due to vacation season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guests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 not require car parking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suggesting limited need for additional parking investment.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Agent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bookings dominate,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indicating strong dependence on third-party channels.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Major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countries include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Portugal, United Kingdom, France, and Spain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Room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the most preferred.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Guests often show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repeat booking behavior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reflecting customer loyalty.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BB (Bed &amp; Breakfast)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the most popular food choice.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6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2492-846D-4CF8-B087-2A70DB7E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51D12-FA9E-4604-A635-7C4384D7A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687020" cy="388077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dashboard provides a complete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Annual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view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hotel booking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performance.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helps management understand revenue trends, customer behavior, and seasonal demand, enabling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data-driven decisions to improve profitability and operational efficiency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1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7E1C7-C4EC-0ED7-1CF0-007E518E6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16" y="1669311"/>
            <a:ext cx="6156251" cy="133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64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73FE-7254-1A65-999B-4BAA8A08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869" y="2698633"/>
            <a:ext cx="9603275" cy="1049235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86F5C-F88B-D4E2-5543-2763F428220C}"/>
              </a:ext>
            </a:extLst>
          </p:cNvPr>
          <p:cNvSpPr/>
          <p:nvPr/>
        </p:nvSpPr>
        <p:spPr>
          <a:xfrm>
            <a:off x="2913322" y="2967335"/>
            <a:ext cx="635450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7000">
                      <a:srgbClr val="58423A"/>
                    </a:gs>
                    <a:gs pos="94406">
                      <a:schemeClr val="accent1">
                        <a:lumMod val="75000"/>
                      </a:schemeClr>
                    </a:gs>
                    <a:gs pos="31000">
                      <a:srgbClr val="A23600"/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* </a:t>
            </a:r>
            <a:r>
              <a:rPr lang="en-IN" sz="7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</a:rPr>
              <a:t>Thank </a:t>
            </a:r>
            <a:r>
              <a:rPr lang="en-IN" sz="7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you</a:t>
            </a:r>
            <a:r>
              <a:rPr lang="en-IN" sz="72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7000">
                      <a:srgbClr val="58423A"/>
                    </a:gs>
                    <a:gs pos="94406">
                      <a:schemeClr val="accent1">
                        <a:lumMod val="75000"/>
                      </a:schemeClr>
                    </a:gs>
                    <a:gs pos="31000">
                      <a:srgbClr val="A23600"/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*</a:t>
            </a:r>
            <a:r>
              <a:rPr lang="en-IN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99191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2719</TotalTime>
  <Words>1178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Trebuchet MS</vt:lpstr>
      <vt:lpstr>Wingdings 3</vt:lpstr>
      <vt:lpstr>Facet</vt:lpstr>
      <vt:lpstr>HOTEL BOOKING Data Analysis </vt:lpstr>
      <vt:lpstr>Project Summary :</vt:lpstr>
      <vt:lpstr>Dataset First View : </vt:lpstr>
      <vt:lpstr>Columns names : </vt:lpstr>
      <vt:lpstr>Dataset Overview :</vt:lpstr>
      <vt:lpstr>Data Cleaning &amp; Preparation :</vt:lpstr>
      <vt:lpstr>Feature Engineering :  </vt:lpstr>
      <vt:lpstr>Key KPIs Created :</vt:lpstr>
      <vt:lpstr>Revenue by Month :</vt:lpstr>
      <vt:lpstr>Revenue by Customer Type :</vt:lpstr>
      <vt:lpstr>Average Stay by Customer Type :</vt:lpstr>
      <vt:lpstr>Week-Night Stay Pattern :</vt:lpstr>
      <vt:lpstr>Guest Meal Preference Analysis :</vt:lpstr>
      <vt:lpstr>Hotel-Wise Performance Analysis :</vt:lpstr>
      <vt:lpstr>Suggestion &amp; Solutions : </vt:lpstr>
      <vt:lpstr>Result / Conclusion : </vt:lpstr>
      <vt:lpstr>Final Conclusion :</vt:lpstr>
      <vt:lpstr>PowerPoint Presentation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Bhagwati Prajapat</dc:creator>
  <cp:lastModifiedBy>User</cp:lastModifiedBy>
  <cp:revision>64</cp:revision>
  <dcterms:created xsi:type="dcterms:W3CDTF">2023-12-29T05:15:56Z</dcterms:created>
  <dcterms:modified xsi:type="dcterms:W3CDTF">2026-02-19T13:28:47Z</dcterms:modified>
</cp:coreProperties>
</file>